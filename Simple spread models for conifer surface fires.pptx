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FBF8-20DD-D66F-5BC4-E579A06EB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BECD4-F62B-504A-D1EB-1A95E0BFB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109EA-D66C-8430-E423-FE1BFD251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48CB2-0AA3-6F2B-9CAA-060D3593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A9D73-C359-41B7-BE8B-83DA3597F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051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20B9-CBC0-6EE7-C9EE-5C37EA8F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95B48-F9B5-4240-7B7D-92E5B07D9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50D6A-6862-3A28-72A2-66A6A623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8F3BE-B875-1E93-4B32-1B5A5A3BF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6B806-3825-7FF8-2B45-52D49981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759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446C-F9DE-9A1E-9E2A-D435F0855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29ECC-A81A-E82C-D66E-D3AF512AC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6B222-4C4B-6AC2-1C14-43E64E36A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449CC-B3CB-79A5-14BC-720097916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B9534-D19D-807A-2CED-F72556F5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8401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18387-47C8-4B04-8069-EF36DF65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D896C-1F75-5660-A259-17E42FC00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21AB9-3E89-0B05-291B-CD57F8DC9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885E1-B818-1910-0464-46142CB7E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FFCD9-4969-6F8A-2ED1-788680E2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98E18-5137-AB2B-6E43-9A06F993F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47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5A18-6421-EC47-1E81-2C0A60D37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6E94D-DABE-9C22-C100-FB3892C94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B86BE-AB99-A4A1-C677-0D874B376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FEC3E-F3DD-BC07-695F-81A9EE460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979B58-DB70-7B50-C718-723EE04E9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FC26A-AB62-CC7C-3AEF-0D08451F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25407-3672-35A3-1687-6581A317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DA4F00-C94A-CF7F-B55B-9680F77E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980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616D6-5EDC-8801-5E97-53757BDD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B94150-E37A-83DE-42A2-A9832559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67E4C-5622-F452-5F6E-2A3FC90B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C80CBC-F84A-B262-0D78-B486E89E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84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A730F-B132-8DFA-E6C3-4D02D3CA5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13794-AD49-F12B-C8A1-08FB60DF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8C045-922F-7F18-E623-7469C2FD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783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AC3B-3077-F9AB-E3BE-ECE96885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11CFF-0DD3-A995-8979-FEBD64C05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4999-F631-DA4C-E8FA-4086AA18D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8CD8A-EB2C-CD55-A6D2-6DDA8C22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1008C-28D0-2EAD-CFA6-355361128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2CE4B-ED2A-2B28-5535-6700C447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0857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2A38-2F9B-04C0-2055-709449F97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32FA69-5C30-B3CD-57AF-30C745648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1B928-4BA9-1AC6-2854-8BA73E7C8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A42D2-9685-100C-7947-38A9C725C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3E08F-F9B1-2202-4670-44F0BC12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E81B1-D5AD-FF0E-2C0E-D88E6936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883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48C1-C515-1F3E-356A-E5816DB3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FE528-D03F-3D87-6299-0316B0977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B65E4-74C6-863A-B188-B1B993DD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403E3-D436-9B7E-6A22-D8D40FB8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910A5-54CF-DFD2-4591-E3FFA3D2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6538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AF998D-9E88-746C-7341-22EC583CD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1DFFD-7468-7D04-4AFB-5171A337E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5051F-B972-9AC7-67F3-14728FD0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98AB-8511-EBCF-AD02-CECC7369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7DD6C-DF11-0160-F2EC-11DDC421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647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8C60C-0FEF-6A5D-D587-D9990E1EA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EAFA0-BBAB-00A3-26FD-DD5502522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655EA-A827-D019-24FE-178A55678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A181B-7948-4FE3-A841-A500F16E739E}" type="datetimeFigureOut">
              <a:rPr lang="en-CA" smtClean="0"/>
              <a:t>2024-10-09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A97BA-4F25-F700-D8EF-A6B9454B5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A1637-2F8E-75DE-6867-36F85C6BB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EE780-6F13-4407-81AA-BDBC526CB89A}" type="slidenum">
              <a:rPr lang="en-CA" smtClean="0"/>
              <a:t>‹#›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44AB2-3223-A70B-22B8-49064AB2A58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201275" y="63500"/>
            <a:ext cx="19621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UNCLASSIFIED - NON CLASSIFIÉ</a:t>
            </a:r>
          </a:p>
        </p:txBody>
      </p:sp>
    </p:spTree>
    <p:extLst>
      <p:ext uri="{BB962C8B-B14F-4D97-AF65-F5344CB8AC3E}">
        <p14:creationId xmlns:p14="http://schemas.microsoft.com/office/powerpoint/2010/main" val="128234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F675-0F08-2AAA-0671-2EFC719FD4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Simple spread models for conifer surface fires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EA0B8-0A51-81CA-2FC3-01221D72E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512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84C74-B1A8-756F-A831-8E34CC746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B7396-8FF3-B2D4-7651-0A6EFD04F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511"/>
            <a:ext cx="10515600" cy="4766452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Surface fire behaviour is the most frequent type of wildfire activity that occurs in conifer forests.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Surface rate of spread (ROS) models can provide guidance under conditions less conducive to crown fire: low to moderate fire danger conditions or in forest stands with a high crown base.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 used a database of conifer-dominated experimental surface fires to fit simple empirical models of ROS under light-to-dense canopy stands that can be readily integrated within operational decision support systems.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Final models are based on the Canadian Initial Spread Index (ISI) or stand-adjusted ISI (ISI</a:t>
            </a:r>
            <a:r>
              <a:rPr lang="en-US" sz="2400" baseline="-25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), with options for other predictors such as estimated surface fuel consumption (SFC) or fuel type.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simplest model finds surface ROS equal to 1.5 % of open 10 m wind speed.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While imprecise, these models are usually accurate enough (within +/- 2–4 m min</a:t>
            </a:r>
            <a:r>
              <a:rPr lang="en-US" sz="2400" baseline="30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-1</a:t>
            </a:r>
            <a:r>
              <a:rPr lang="en-US" sz="2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for many forecasting and fire management purposes.</a:t>
            </a:r>
            <a:endParaRPr lang="en-CA" sz="24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A587-16E2-DB59-E956-025483B47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4" y="281958"/>
            <a:ext cx="4540045" cy="5077981"/>
          </a:xfrm>
        </p:spPr>
        <p:txBody>
          <a:bodyPr>
            <a:normAutofit/>
          </a:bodyPr>
          <a:lstStyle/>
          <a:p>
            <a:r>
              <a:rPr lang="en-CA" dirty="0"/>
              <a:t>Original FBP-era </a:t>
            </a:r>
            <a:r>
              <a:rPr lang="en-CA" dirty="0" err="1"/>
              <a:t>sROS</a:t>
            </a:r>
            <a:r>
              <a:rPr lang="en-CA" dirty="0"/>
              <a:t> models:</a:t>
            </a:r>
            <a:br>
              <a:rPr lang="en-CA" dirty="0"/>
            </a:br>
            <a:br>
              <a:rPr lang="en-CA" sz="2800" dirty="0"/>
            </a:br>
            <a:r>
              <a:rPr lang="en-CA" sz="2800" dirty="0"/>
              <a:t>D-1,</a:t>
            </a:r>
            <a:br>
              <a:rPr lang="en-CA" sz="2800" dirty="0"/>
            </a:br>
            <a:r>
              <a:rPr lang="en-CA" sz="2800" dirty="0"/>
              <a:t>C-6s,</a:t>
            </a:r>
            <a:br>
              <a:rPr lang="en-CA" sz="2800" dirty="0"/>
            </a:br>
            <a:r>
              <a:rPr lang="en-CA" sz="2800" dirty="0"/>
              <a:t> C-3s (CEVW 93),</a:t>
            </a:r>
            <a:br>
              <a:rPr lang="en-CA" sz="2800" dirty="0"/>
            </a:br>
            <a:r>
              <a:rPr lang="en-CA" sz="2800" dirty="0"/>
              <a:t>C-4s (CEVW 93)</a:t>
            </a:r>
            <a:br>
              <a:rPr lang="en-CA" sz="2800" dirty="0"/>
            </a:br>
            <a:br>
              <a:rPr lang="en-CA" sz="2800" dirty="0"/>
            </a:br>
            <a:r>
              <a:rPr lang="en-CA" sz="2800" dirty="0"/>
              <a:t>C-3 shown for comparison</a:t>
            </a:r>
            <a:endParaRPr lang="en-CA" dirty="0"/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013DAFF1-A5A8-3C56-1AD4-A6942865EAC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264742" y="281959"/>
            <a:ext cx="7797556" cy="64301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48752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12C1-97D4-1F2A-C928-0785F9BF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ISI and </a:t>
            </a:r>
            <a:r>
              <a:rPr lang="en-CA" dirty="0" err="1"/>
              <a:t>ISI</a:t>
            </a:r>
            <a:r>
              <a:rPr lang="en-CA" baseline="-25000" dirty="0" err="1"/>
              <a:t>sa</a:t>
            </a:r>
            <a:endParaRPr lang="en-CA" baseline="-25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F5F155-2902-3BC7-2809-30679F0F35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>
                    <a:effectLst/>
                    <a:latin typeface="Cambria Math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ISI equation combined with Wotton &amp; Beverly (2007) stand-adjusted mc model</a:t>
                </a:r>
              </a:p>
              <a:p>
                <a:r>
                  <a:rPr lang="en-US" sz="1800" dirty="0">
                    <a:latin typeface="Cambria Math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FFMC, DMC, stand type (pine, spruce, etc.), density (low, mod, high), season (spring, summer, fall)</a:t>
                </a:r>
              </a:p>
              <a:p>
                <a:endParaRPr lang="en-US" sz="1800" dirty="0">
                  <a:effectLst/>
                  <a:latin typeface="Cambria Math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𝐼𝑆</m:t>
                    </m:r>
                    <m:sSub>
                      <m:sSubPr>
                        <m:ctrlPr>
                          <a:rPr lang="en-CA" sz="1800" i="1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𝑠𝑎</m:t>
                        </m:r>
                      </m:sub>
                    </m:sSub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0.208</m:t>
                    </m:r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d>
                      <m:dPr>
                        <m:ctrlPr>
                          <a:rPr lang="en-CA" sz="1800" i="1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1800" i="1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0.05039</m:t>
                            </m:r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⋅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  <m:sSub>
                              <m:sSubPr>
                                <m:ctrlPr>
                                  <a:rPr lang="en-CA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d>
                      <m:dPr>
                        <m:ctrlPr>
                          <a:rPr lang="en-CA" sz="1800" i="1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91.9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CA" sz="1800" i="1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−0.1386</m:t>
                            </m:r>
                            <m:r>
                              <a:rPr lang="en-US" sz="1800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⋅</m:t>
                            </m:r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sSub>
                              <m:sSubPr>
                                <m:ctrlPr>
                                  <a:rPr lang="en-CA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𝑠𝑎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sz="180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en-CA" sz="1800" i="1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CA" sz="1800" i="1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sSubSup>
                              <m:sSubSupPr>
                                <m:ctrlPr>
                                  <a:rPr lang="en-CA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𝑠𝑎</m:t>
                                </m:r>
                              </m:sub>
                              <m:sup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   5.31</m:t>
                                </m:r>
                              </m:sup>
                            </m:sSubSup>
                          </m:num>
                          <m:den>
                            <m:d>
                              <m:dPr>
                                <m:ctrlPr>
                                  <a:rPr lang="en-CA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4.93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en-CA" sz="18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a:rPr lang="en-US" sz="180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CA" sz="18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CA" dirty="0"/>
              </a:p>
              <a:p>
                <a:r>
                  <a:rPr lang="en-CA" dirty="0"/>
                  <a:t>Linear or squared; also other FWI variables (</a:t>
                </a:r>
                <a:r>
                  <a:rPr lang="en-CA" dirty="0" err="1"/>
                  <a:t>ws</a:t>
                </a:r>
                <a:r>
                  <a:rPr lang="en-CA" dirty="0"/>
                  <a:t>, DMC, etc.), SFC, Fuel type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F5F155-2902-3BC7-2809-30679F0F35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42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860F-D482-3DFA-57A0-B100B255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11C6-3654-66E0-5B34-22C75B34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5ECD57A7-715D-B62F-D816-DFFEAC5958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428135" y="0"/>
            <a:ext cx="791251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42337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860F-D482-3DFA-57A0-B100B255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11C6-3654-66E0-5B34-22C75B34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71FDA61C-B83E-2B18-CD52-DC8FD6334A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713690" y="117987"/>
            <a:ext cx="8964561" cy="662202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14984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860F-D482-3DFA-57A0-B100B255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11C6-3654-66E0-5B34-22C75B34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3DA34-6902-0352-067A-BA8B2154F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711" y="473275"/>
            <a:ext cx="7918995" cy="634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58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860F-D482-3DFA-57A0-B100B255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SFC and FT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11C6-3654-66E0-5B34-22C75B34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2CE5B0-6216-2107-A8D6-3972D159F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374" y="2192917"/>
            <a:ext cx="8519882" cy="411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44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860F-D482-3DFA-57A0-B100B255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11C6-3654-66E0-5B34-22C75B34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3CF5C2EE-7A69-5548-E530-06E4563676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2587557" y="681037"/>
            <a:ext cx="6506183" cy="592090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10455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860F-D482-3DFA-57A0-B100B255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11C6-3654-66E0-5B34-22C75B34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96490798-AB19-CB38-1BFA-056B7DE39B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3429000" y="762000"/>
            <a:ext cx="5334000" cy="533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90498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860F-D482-3DFA-57A0-B100B255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11C6-3654-66E0-5B34-22C75B34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1A7C43DD-B315-A350-D9D6-F289A7EEED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3429000" y="762000"/>
            <a:ext cx="5334000" cy="533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5418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860F-D482-3DFA-57A0-B100B255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M9: Under- and Over-prediction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D11C6-3654-66E0-5B34-22C75B341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2145"/>
            <a:ext cx="10515600" cy="5252936"/>
          </a:xfrm>
        </p:spPr>
        <p:txBody>
          <a:bodyPr>
            <a:normAutofit/>
          </a:bodyPr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Overprediction, ISI &gt; 12: mean of 1.7 m/min</a:t>
            </a:r>
          </a:p>
          <a:p>
            <a:r>
              <a:rPr lang="en-CA" dirty="0"/>
              <a:t>Underprediction, ISI &gt; 12: mean of 3.0 m/min</a:t>
            </a:r>
          </a:p>
          <a:p>
            <a:r>
              <a:rPr lang="en-CA" dirty="0"/>
              <a:t>Overprediction, ISI &lt; 12: mean of 0.6 m/min</a:t>
            </a:r>
          </a:p>
          <a:p>
            <a:r>
              <a:rPr lang="en-CA" dirty="0"/>
              <a:t>Underprediction, ISI &lt; 12: mean of 0.8 m/min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8ACFFF-DCB0-AE1B-9643-7CFC665B73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939"/>
          <a:stretch/>
        </p:blipFill>
        <p:spPr>
          <a:xfrm>
            <a:off x="1110124" y="1816324"/>
            <a:ext cx="10272358" cy="206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165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" val="{&quot;SavedSwatch&quot;:&quot;-11240108|-11700327|-8754175|-9605520|-12039861|NRCan&quot;,&quot;Id&quot;:&quot;6708289f4243366804c678ad&quot;,&quot;SmartGridHorizontal&quot;:0,&quot;LinkedExcelSources&quot;:{},&quot;LinkedProjectSources&quot;:{},&quot;FlowConfig&quot;:{&quot;Canvas&quot;:{&quot;Slide&quot;:-1,&quot;Width&quot;:0,&quot;Height&quot;:0},&quot;Timeline&quot;:{&quot;Actions&quot;:[]}},&quot;LinkedSlideMergeSources&quot;:{},&quot;LinkedSharePointSlideMergeSources&quot;:{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19619fd-75dc-48cb-820d-8f683a95dd8b}" enabled="1" method="Privileged" siteId="{05c95b33-90ca-49d5-b644-288b930b912b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Microsoft Office PowerPoint</Application>
  <PresentationFormat>Widescreen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</vt:lpstr>
      <vt:lpstr>Cambria Math</vt:lpstr>
      <vt:lpstr>Office Theme</vt:lpstr>
      <vt:lpstr>Simple spread models for conifer surface fires</vt:lpstr>
      <vt:lpstr>Abstract</vt:lpstr>
      <vt:lpstr>Original FBP-era sROS models:  D-1, C-6s,  C-3s (CEVW 93), C-4s (CEVW 93)  C-3 shown for comparison</vt:lpstr>
      <vt:lpstr>ISI and ISIsa</vt:lpstr>
      <vt:lpstr>PowerPoint Presentation</vt:lpstr>
      <vt:lpstr>PowerPoint Presentation</vt:lpstr>
      <vt:lpstr>PowerPoint Presentation</vt:lpstr>
      <vt:lpstr>SFC and FT models</vt:lpstr>
      <vt:lpstr>PowerPoint Presentation</vt:lpstr>
      <vt:lpstr>PowerPoint Presentation</vt:lpstr>
      <vt:lpstr>PowerPoint Presentation</vt:lpstr>
      <vt:lpstr>M9: Under- and Over-prediction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Perrakis, Daniel</dc:creator>
  <cp:lastModifiedBy>Perrakis, Daniel</cp:lastModifiedBy>
  <cp:revision>1</cp:revision>
  <dcterms:created xsi:type="dcterms:W3CDTF">2024-10-09T17:34:54Z</dcterms:created>
  <dcterms:modified xsi:type="dcterms:W3CDTF">2024-10-10T19:19:19Z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UNCLASSIFIED - NON CLASSIFIÉ</vt:lpwstr>
  </property>
</Properties>
</file>